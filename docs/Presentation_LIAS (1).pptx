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3.png"/><Relationship Id="rId6" Type="http://schemas.openxmlformats.org/officeDocument/2006/relationships/image" Target="../media/image-15-6.png"/><Relationship Id="rId7" Type="http://schemas.openxmlformats.org/officeDocument/2006/relationships/image" Target="../media/image-15-3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9.png"/><Relationship Id="rId11" Type="http://schemas.openxmlformats.org/officeDocument/2006/relationships/image" Target="../media/image-15-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669280" cy="5669280"/>
          </a:xfrm>
          <a:prstGeom prst="ellipse">
            <a:avLst/>
          </a:prstGeom>
          <a:solidFill>
            <a:srgbClr val="292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840480"/>
            <a:ext cx="4114800" cy="4114800"/>
          </a:xfrm>
          <a:prstGeom prst="ellipse">
            <a:avLst/>
          </a:prstGeom>
          <a:solidFill>
            <a:srgbClr val="29252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icons/ic_flas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2412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786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828800" y="12435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 d'Intelligence Artificielle et de Systèmes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Hassan II  •  Faculté des Sciences Ben M'Sick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de Gestion</a:t>
            </a:r>
            <a:endParaRPr lang="en-US" sz="4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Laboratoire LIAS</a:t>
            </a:r>
            <a:endParaRPr lang="en-US" sz="470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de Module — Programmation JEE  |  Master Big Data &amp; Data Science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5074920"/>
            <a:ext cx="5669280" cy="0"/>
          </a:xfrm>
          <a:prstGeom prst="line">
            <a:avLst/>
          </a:prstGeom>
          <a:noFill/>
          <a:ln w="12700">
            <a:solidFill>
              <a:srgbClr val="4440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MSOUHLI RAHIL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5623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Abdessamad Belangour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— 2026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85816" y="5989320"/>
            <a:ext cx="1513332" cy="402336"/>
          </a:xfrm>
          <a:prstGeom prst="roundRect">
            <a:avLst>
              <a:gd name="adj" fmla="val 50000"/>
            </a:avLst>
          </a:prstGeom>
          <a:solidFill>
            <a:srgbClr val="29252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85816" y="5989320"/>
            <a:ext cx="15133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45452" y="5989320"/>
            <a:ext cx="1129284" cy="402336"/>
          </a:xfrm>
          <a:prstGeom prst="roundRect">
            <a:avLst>
              <a:gd name="adj" fmla="val 50000"/>
            </a:avLst>
          </a:prstGeom>
          <a:solidFill>
            <a:srgbClr val="29252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5452" y="5989320"/>
            <a:ext cx="1129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21040" y="5989320"/>
            <a:ext cx="1225296" cy="402336"/>
          </a:xfrm>
          <a:prstGeom prst="roundRect">
            <a:avLst>
              <a:gd name="adj" fmla="val 50000"/>
            </a:avLst>
          </a:prstGeom>
          <a:solidFill>
            <a:srgbClr val="29252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598932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92640" y="5989320"/>
            <a:ext cx="937260" cy="402336"/>
          </a:xfrm>
          <a:prstGeom prst="roundRect">
            <a:avLst>
              <a:gd name="adj" fmla="val 50000"/>
            </a:avLst>
          </a:prstGeom>
          <a:solidFill>
            <a:srgbClr val="29252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0" y="5989320"/>
            <a:ext cx="9372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0776204" y="5989320"/>
            <a:ext cx="745236" cy="402336"/>
          </a:xfrm>
          <a:prstGeom prst="roundRect">
            <a:avLst>
              <a:gd name="adj" fmla="val 50000"/>
            </a:avLst>
          </a:prstGeom>
          <a:solidFill>
            <a:srgbClr val="29252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76204" y="5989320"/>
            <a:ext cx="745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508760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161848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600200" y="1691640"/>
            <a:ext cx="0" cy="475488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55648" y="16550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755648" y="1965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et solution proposée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508760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73952" y="161848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7269480" y="1691640"/>
            <a:ext cx="0" cy="475488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24928" y="16550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424928" y="1965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acteurs et besoins du système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2487168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" y="259689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1600200" y="2670048"/>
            <a:ext cx="0" cy="475488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55648" y="26334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755648" y="2944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UML et architecture MVC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2487168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73952" y="259689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7269480" y="2670048"/>
            <a:ext cx="0" cy="475488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24928" y="26334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424928" y="2944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d'une requête full-stack REST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3465576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04672" y="357530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Shape 26"/>
          <p:cNvSpPr/>
          <p:nvPr/>
        </p:nvSpPr>
        <p:spPr>
          <a:xfrm>
            <a:off x="1600200" y="3648456"/>
            <a:ext cx="0" cy="475488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755648" y="3611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755648" y="3922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Backend, Frontend &amp; base de données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09360" y="3465576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473952" y="357530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7269480" y="3648456"/>
            <a:ext cx="0" cy="475488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24928" y="3611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Interfaces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7424928" y="3922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écrans de l'application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" y="4443984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804672" y="455371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9" name="Shape 36"/>
          <p:cNvSpPr/>
          <p:nvPr/>
        </p:nvSpPr>
        <p:spPr>
          <a:xfrm>
            <a:off x="1600200" y="4626864"/>
            <a:ext cx="0" cy="475488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755648" y="45902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1755648" y="49011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 et améliorations futures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60350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19456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numérisation croissante des activités académiques fait de la gestion de l'information un enjeu stratégique pour un laboratoire de recherche universitaire : membres, publications, événements, matériel et adhésions.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703320"/>
            <a:ext cx="6035040" cy="2331720"/>
          </a:xfrm>
          <a:prstGeom prst="roundRect">
            <a:avLst>
              <a:gd name="adj" fmla="val 2353"/>
            </a:avLst>
          </a:prstGeom>
          <a:solidFill>
            <a:srgbClr val="FBEEE7"/>
          </a:solidFill>
          <a:ln w="12700">
            <a:solidFill>
              <a:srgbClr val="F5D5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4279392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manuelle ou non centralisée engendre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pertes de temps considérables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risques d'incohérence des données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manque de transparence dans le suivi des activités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03720" y="1600200"/>
            <a:ext cx="4617720" cy="4434840"/>
          </a:xfrm>
          <a:prstGeom prst="roundRect">
            <a:avLst>
              <a:gd name="adj" fmla="val 1649"/>
            </a:avLst>
          </a:prstGeom>
          <a:solidFill>
            <a:srgbClr val="1C191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69480" y="1965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</p:sp>
      <p:pic>
        <p:nvPicPr>
          <p:cNvPr id="15" name="Image 1" descr="/home/claude/icons/ic_fla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213055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46720" y="19933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proposée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269480" y="27889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web moderne, sécurisée et performante qui centralise l'ensemble des activités administratives et scientifiques du laboratoire.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26948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543800" y="38679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full-stack REST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Backend Spring Boot + Frontend React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269480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43800" y="45445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robuste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Authentification JWT &amp; accès par rôle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269480" y="5239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543800" y="52212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fluide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Interface SPA réactive &amp; intuitive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l'application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application web dynamique et sécurisée pour centraliser la gestion administrative et scientifique du laboratoire LIAS.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286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</p:sp>
      <p:pic>
        <p:nvPicPr>
          <p:cNvPr id="10" name="Image 1" descr="/home/claude/icons/ic_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4505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membres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68680" y="3300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Chercheurs, doctorants et associés avec leurs affiliations aux équipes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53128" y="205740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81728" y="2286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</p:sp>
      <p:pic>
        <p:nvPicPr>
          <p:cNvPr id="15" name="Image 2" descr="/home/claude/icons/ic_boo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505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81728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scientifiques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81728" y="3300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Recenser et valoriser les articles et conférences des membres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66176" y="205740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94776" y="2286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</p:sp>
      <p:pic>
        <p:nvPicPr>
          <p:cNvPr id="20" name="Image 3" descr="/home/claude/icons/ic_cal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68" y="245059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94776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Événements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94776" y="3300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et suivre conférences, séminaires et workshops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409651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8680" y="43251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</p:sp>
      <p:pic>
        <p:nvPicPr>
          <p:cNvPr id="25" name="Image 4" descr="/home/claude/icons/ic_server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489704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8680" y="5029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 matériel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868680" y="53400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l'inventaire informatique et ses attributions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453128" y="409651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81728" y="43251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</p:sp>
      <p:pic>
        <p:nvPicPr>
          <p:cNvPr id="30" name="Image 5" descr="/home/claude/icons/ic_userplus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489704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681728" y="5029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Demandes d'adhésion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4681728" y="53400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les candidatures des chercheurs extérieurs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8266176" y="409651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494776" y="43251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</p:sp>
      <p:pic>
        <p:nvPicPr>
          <p:cNvPr id="35" name="Image 6" descr="/home/claude/icons/ic_lock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9368" y="4489704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494776" y="5029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&amp; accès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8494776" y="53400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et contrôle d'accès basé sur les rôles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user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 du système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profils aux prérogatives distinctes, chacun avec un accès granulaire aux fonctionnalités.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2157984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05740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1C1917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2743200"/>
            <a:ext cx="2157984" cy="685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1" name="Shape 8"/>
          <p:cNvSpPr/>
          <p:nvPr/>
        </p:nvSpPr>
        <p:spPr>
          <a:xfrm>
            <a:off x="1335024" y="2350008"/>
            <a:ext cx="768096" cy="768096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12" name="Image 1" descr="/home/claude/icons/ic_admi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542032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35021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Administrateur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04672" y="3931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l'ensemble du système : membres, matériel, adhésions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14400" y="4983480"/>
            <a:ext cx="1609344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5093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fonctionnalités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944368" y="2057400"/>
            <a:ext cx="2157984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944368" y="205740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1C1917"/>
          </a:solidFill>
          <a:ln/>
        </p:spPr>
      </p:sp>
      <p:sp>
        <p:nvSpPr>
          <p:cNvPr id="19" name="Shape 15"/>
          <p:cNvSpPr/>
          <p:nvPr/>
        </p:nvSpPr>
        <p:spPr>
          <a:xfrm>
            <a:off x="2944368" y="2743200"/>
            <a:ext cx="2157984" cy="685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0" name="Shape 16"/>
          <p:cNvSpPr/>
          <p:nvPr/>
        </p:nvSpPr>
        <p:spPr>
          <a:xfrm>
            <a:off x="3639312" y="2350008"/>
            <a:ext cx="768096" cy="768096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21" name="Image 2" descr="/home/claude/icons/ic_directo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2542032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035808" y="35021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Directeur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3108960" y="3931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 les activités scientifiques et valide les adhésions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18688" y="4983480"/>
            <a:ext cx="1609344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081528" y="5093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Adhésions • Rapports • Membres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248656" y="2057400"/>
            <a:ext cx="2157984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248656" y="205740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1C1917"/>
          </a:solidFill>
          <a:ln/>
        </p:spPr>
      </p:sp>
      <p:sp>
        <p:nvSpPr>
          <p:cNvPr id="28" name="Shape 23"/>
          <p:cNvSpPr/>
          <p:nvPr/>
        </p:nvSpPr>
        <p:spPr>
          <a:xfrm>
            <a:off x="5248656" y="2743200"/>
            <a:ext cx="2157984" cy="685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9" name="Shape 24"/>
          <p:cNvSpPr/>
          <p:nvPr/>
        </p:nvSpPr>
        <p:spPr>
          <a:xfrm>
            <a:off x="5943600" y="2350008"/>
            <a:ext cx="768096" cy="768096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30" name="Image 3" descr="/home/claude/icons/ic_membe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2542032"/>
            <a:ext cx="420624" cy="4206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40096" y="35021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5413248" y="3931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 permanent ou associé gérant ses publications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522976" y="4983480"/>
            <a:ext cx="1609344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85816" y="5093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• Événements • Profil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552944" y="2057400"/>
            <a:ext cx="2157984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552944" y="205740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1C1917"/>
          </a:solidFill>
          <a:ln/>
        </p:spPr>
      </p:sp>
      <p:sp>
        <p:nvSpPr>
          <p:cNvPr id="37" name="Shape 31"/>
          <p:cNvSpPr/>
          <p:nvPr/>
        </p:nvSpPr>
        <p:spPr>
          <a:xfrm>
            <a:off x="7552944" y="2743200"/>
            <a:ext cx="2157984" cy="685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8" name="Shape 32"/>
          <p:cNvSpPr/>
          <p:nvPr/>
        </p:nvSpPr>
        <p:spPr>
          <a:xfrm>
            <a:off x="8247888" y="2350008"/>
            <a:ext cx="768096" cy="768096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39" name="Image 4" descr="/home/claude/icons/ic_ph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542032"/>
            <a:ext cx="420624" cy="42062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644384" y="35021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Doctorant</a:t>
            </a:r>
            <a:endParaRPr lang="en-US" sz="1550" dirty="0"/>
          </a:p>
        </p:txBody>
      </p:sp>
      <p:sp>
        <p:nvSpPr>
          <p:cNvPr id="41" name="Text 34"/>
          <p:cNvSpPr/>
          <p:nvPr/>
        </p:nvSpPr>
        <p:spPr>
          <a:xfrm>
            <a:off x="7717536" y="3931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en thèse avec accès aux fonctionnalités de base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7827264" y="4983480"/>
            <a:ext cx="1609344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690104" y="5093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• Événements • Profil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9857232" y="2057400"/>
            <a:ext cx="2157984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9857232" y="205740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1C1917"/>
          </a:solidFill>
          <a:ln/>
        </p:spPr>
      </p:sp>
      <p:sp>
        <p:nvSpPr>
          <p:cNvPr id="46" name="Shape 39"/>
          <p:cNvSpPr/>
          <p:nvPr/>
        </p:nvSpPr>
        <p:spPr>
          <a:xfrm>
            <a:off x="9857232" y="2743200"/>
            <a:ext cx="2157984" cy="685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7" name="Shape 40"/>
          <p:cNvSpPr/>
          <p:nvPr/>
        </p:nvSpPr>
        <p:spPr>
          <a:xfrm>
            <a:off x="10552176" y="2350008"/>
            <a:ext cx="768096" cy="768096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48" name="Image 5" descr="/home/claude/icons/ic_visitor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912" y="2542032"/>
            <a:ext cx="420624" cy="42062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948672" y="35021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Visiteur</a:t>
            </a:r>
            <a:endParaRPr lang="en-US" sz="1550" dirty="0"/>
          </a:p>
        </p:txBody>
      </p:sp>
      <p:sp>
        <p:nvSpPr>
          <p:cNvPr id="50" name="Text 42"/>
          <p:cNvSpPr/>
          <p:nvPr/>
        </p:nvSpPr>
        <p:spPr>
          <a:xfrm>
            <a:off x="10021824" y="3931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externe soumettant une demande d'adhésion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10131552" y="4983480"/>
            <a:ext cx="1609344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9994392" y="5093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publique uniquement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itema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fonctionnels — Modules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63624" y="2084832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9" name="Image 1" descr="/home/claude/icons/ic_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2276856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9900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520" y="32918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Comptes, statuts &amp; rôles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57016" y="18288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80560" y="2084832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14" name="Image 2" descr="/home/claude/icons/ic_sitema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276856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48456" y="29900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648456" y="32918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de recherche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73952" y="18288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97496" y="2084832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19" name="Image 3" descr="/home/claude/icons/ic_boo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276856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65392" y="29900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565392" y="32918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&amp; conférences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390888" y="18288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314432" y="2084832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24" name="Image 4" descr="/home/claude/icons/ic_cal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6456" y="2276856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82328" y="29900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Événements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482328" y="32918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&amp; séminaires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40080" y="38862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563624" y="4142232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29" name="Image 5" descr="/home/claude/icons/ic_server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648" y="4334256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1520" y="50474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Matériel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731520" y="5349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&amp; attributions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3557016" y="38862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480560" y="4142232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34" name="Image 6" descr="/home/claude/icons/ic_userplus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334256"/>
            <a:ext cx="438912" cy="4389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648456" y="50474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Adhésions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3648456" y="5349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externes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6473952" y="38862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7397496" y="4142232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39" name="Image 7" descr="/home/claude/icons/ic_bell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4334256"/>
            <a:ext cx="438912" cy="43891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565392" y="50474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41" name="Text 31"/>
          <p:cNvSpPr/>
          <p:nvPr/>
        </p:nvSpPr>
        <p:spPr>
          <a:xfrm>
            <a:off x="6565392" y="5349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personnalisées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9390888" y="388620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10314432" y="4142232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44" name="Image 8" descr="/home/claude/icons/ic_history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6456" y="4334256"/>
            <a:ext cx="438912" cy="43891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482328" y="50474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</a:t>
            </a:r>
            <a:endParaRPr lang="en-US" sz="1500" dirty="0"/>
          </a:p>
        </p:txBody>
      </p:sp>
      <p:sp>
        <p:nvSpPr>
          <p:cNvPr id="46" name="Text 35"/>
          <p:cNvSpPr/>
          <p:nvPr/>
        </p:nvSpPr>
        <p:spPr>
          <a:xfrm>
            <a:off x="9482328" y="53492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non fonctionnels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BEEE7"/>
          </a:solidFill>
          <a:ln/>
        </p:spPr>
      </p:sp>
      <p:pic>
        <p:nvPicPr>
          <p:cNvPr id="9" name="Image 1" descr="/home/claude/icons/ic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202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801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24505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stateless, hachage BCrypt des mots de passe, contrôle d'accès par rôle (RBAC), protection CORS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453128" y="15544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81728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BEEE7"/>
          </a:solidFill>
          <a:ln/>
        </p:spPr>
      </p:sp>
      <p:pic>
        <p:nvPicPr>
          <p:cNvPr id="14" name="Image 2" descr="/home/claude/icons/ic_per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202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67528" y="1801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81728" y="24505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Spring Data, cache React Query côté client, requêtes optimisées via projections JPA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66176" y="15544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94776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BEEE7"/>
          </a:solidFill>
          <a:ln/>
        </p:spPr>
      </p:sp>
      <p:pic>
        <p:nvPicPr>
          <p:cNvPr id="19" name="Image 3" descr="/home/claude/icons/ic_ma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36" y="192024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80576" y="1801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Maintenabilité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494776" y="24505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Controller / Service / Repository, pattern DTO, gestion centralisée des exceptions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359359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68680" y="38221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BEEE7"/>
          </a:solidFill>
          <a:ln/>
        </p:spPr>
      </p:sp>
      <p:pic>
        <p:nvPicPr>
          <p:cNvPr id="24" name="Image 4" descr="/home/claude/icons/ic_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59352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3840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Extensibilité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68680" y="448970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permettant l'ajout de nouveaux modules sans restructuration majeure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453128" y="359359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81728" y="38221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BEEE7"/>
          </a:solidFill>
          <a:ln/>
        </p:spPr>
      </p:sp>
      <p:pic>
        <p:nvPicPr>
          <p:cNvPr id="29" name="Image 5" descr="/home/claude/icons/ic_acce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959352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67528" y="3840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Accessibilité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681728" y="448970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responsive, design intuitif avec feedback visuel (toasts, états de chargement)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266176" y="359359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494776" y="38221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BEEE7"/>
          </a:solidFill>
          <a:ln/>
        </p:spPr>
      </p:sp>
      <p:pic>
        <p:nvPicPr>
          <p:cNvPr id="34" name="Image 6" descr="/home/claude/icons/ic_reliab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936" y="3959352"/>
            <a:ext cx="292608" cy="29260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80576" y="3840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8494776" y="448970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automatique du compte admin, gestion gracieuse des erreurs avec messages explicites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UML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langage UML a été utilisé pour modéliser les aspects fonctionnels, structurels et dynamiques du système à travers trois familles de diagrammes.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487168"/>
            <a:ext cx="713232" cy="713232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487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1440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d'utilisation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les interactions entre les acteurs et le système, et recense les fonctionnalités attendues.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4727448"/>
            <a:ext cx="2971800" cy="475488"/>
          </a:xfrm>
          <a:prstGeom prst="roundRect">
            <a:avLst>
              <a:gd name="adj" fmla="val 13462"/>
            </a:avLst>
          </a:prstGeom>
          <a:solidFill>
            <a:srgbClr val="FBEEE7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7274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• Membre / Doctorant • Visiteur public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53128" y="21945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27448" y="2487168"/>
            <a:ext cx="713232" cy="713232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7" name="Text 14"/>
          <p:cNvSpPr/>
          <p:nvPr/>
        </p:nvSpPr>
        <p:spPr>
          <a:xfrm>
            <a:off x="4727448" y="2487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727448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classes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727448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statique modélisant les 10 entités métier, leurs attributs et leurs relations (composition, association).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27448" y="4727448"/>
            <a:ext cx="2971800" cy="475488"/>
          </a:xfrm>
          <a:prstGeom prst="roundRect">
            <a:avLst>
              <a:gd name="adj" fmla="val 13462"/>
            </a:avLst>
          </a:prstGeom>
          <a:solidFill>
            <a:srgbClr val="FBEEE7"/>
          </a:solidFill>
          <a:ln/>
        </p:spPr>
      </p:sp>
      <p:sp>
        <p:nvSpPr>
          <p:cNvPr id="21" name="Text 18"/>
          <p:cNvSpPr/>
          <p:nvPr/>
        </p:nvSpPr>
        <p:spPr>
          <a:xfrm>
            <a:off x="4818888" y="47274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entités principales du domaine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266176" y="21945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540496" y="2487168"/>
            <a:ext cx="713232" cy="713232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8540496" y="2487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8540496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Diagrammes de séquence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540496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 montrant la chronologie des interactions pour un scénario précis.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540496" y="4727448"/>
            <a:ext cx="2971800" cy="475488"/>
          </a:xfrm>
          <a:prstGeom prst="roundRect">
            <a:avLst>
              <a:gd name="adj" fmla="val 13462"/>
            </a:avLst>
          </a:prstGeom>
          <a:solidFill>
            <a:srgbClr val="FBEEE7"/>
          </a:solidFill>
          <a:ln/>
        </p:spPr>
      </p:sp>
      <p:sp>
        <p:nvSpPr>
          <p:cNvPr id="28" name="Text 25"/>
          <p:cNvSpPr/>
          <p:nvPr/>
        </p:nvSpPr>
        <p:spPr>
          <a:xfrm>
            <a:off x="8631936" y="47274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• Adhésion • Publication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d'utilisation — Administrateur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977640" cy="4892040"/>
          </a:xfrm>
          <a:prstGeom prst="roundRect">
            <a:avLst>
              <a:gd name="adj" fmla="val 1839"/>
            </a:avLst>
          </a:prstGeom>
          <a:solidFill>
            <a:srgbClr val="1C191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556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</p:spPr>
      </p:sp>
      <p:pic>
        <p:nvPicPr>
          <p:cNvPr id="9" name="Image 1" descr="/home/claude/icons/ic_um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928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755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 &amp; cas d'usage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22960" y="248716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L'administrateur dispose des privilèges les plus étendus du système LIAS.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347472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membres et les équipes de recherche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les demandes d'adhésion (accepter / refuser)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et attribuer le matériel informatique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envoyer des notifications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l'historique des actions (audit)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rapports statistiques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846011" y="1353312"/>
            <a:ext cx="4950059" cy="5111496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/home/claude/img/uc_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739" y="1463040"/>
            <a:ext cx="473060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d'utilisation — Membre / Doctorant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977640" cy="4892040"/>
          </a:xfrm>
          <a:prstGeom prst="roundRect">
            <a:avLst>
              <a:gd name="adj" fmla="val 1839"/>
            </a:avLst>
          </a:prstGeom>
          <a:solidFill>
            <a:srgbClr val="1C191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556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</p:spPr>
      </p:sp>
      <p:pic>
        <p:nvPicPr>
          <p:cNvPr id="9" name="Image 1" descr="/home/claude/icons/ic_um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928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755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 &amp; cas d'usage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22960" y="248716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membre et le doctorant partagent un socle commun de fonctionnalités scientifiques.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347472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S'authentifier et se déconnecter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et modifier son profil personnel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 et supprimer ses publications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membres, équipes et événements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et marquer ses notifications comme lues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117097" y="1353312"/>
            <a:ext cx="6407887" cy="5111496"/>
          </a:xfrm>
          <a:prstGeom prst="roundRect">
            <a:avLst>
              <a:gd name="adj" fmla="val 107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/home/claude/img/uc_memb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825" y="1463040"/>
            <a:ext cx="618843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classes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7226869" cy="5257800"/>
          </a:xfrm>
          <a:prstGeom prst="roundRect">
            <a:avLst>
              <a:gd name="adj" fmla="val 104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img/class_di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043989" cy="5074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83880" y="146304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1C191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41248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du domaine métier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412480" y="2057400"/>
            <a:ext cx="3154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Membre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Affiliation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Publication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Evenement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Materiel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AttributionMateriel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DemandeAdhesion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7E5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HistoriqueAction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412480" y="4892040"/>
            <a:ext cx="3108960" cy="0"/>
          </a:xfrm>
          <a:prstGeom prst="line">
            <a:avLst/>
          </a:prstGeom>
          <a:noFill/>
          <a:ln w="12700">
            <a:solidFill>
              <a:srgbClr val="44403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248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 clés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412480" y="52852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1..* Affiliation *..1 Equipe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0..* Publication • Mandat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Materiel 1..* AttributionMateriel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MVC — Flux d'une requête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trois-tiers REST avec séparation physique du Backend (Spring Boot) et du Frontend (React).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1C191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" y="2487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(SPA)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2648" y="299923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HTTP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token JWT</a:t>
            </a:r>
            <a:endParaRPr lang="en-US" sz="950" dirty="0"/>
          </a:p>
        </p:txBody>
      </p:sp>
      <p:pic>
        <p:nvPicPr>
          <p:cNvPr id="11" name="Image 1" descr="/home/claude/icons/ic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87578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40864" y="228600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386584" y="2487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JwtAuthFilter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386584" y="299923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 token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JwtUtil</a:t>
            </a:r>
            <a:endParaRPr lang="en-US" sz="950" dirty="0"/>
          </a:p>
        </p:txBody>
      </p:sp>
      <p:pic>
        <p:nvPicPr>
          <p:cNvPr id="15" name="Image 2" descr="/home/claude/icons/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76" y="2875788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114800" y="228600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57534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160520" y="2487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160520" y="299923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&amp; délègue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</a:t>
            </a:r>
            <a:endParaRPr lang="en-US" sz="950" dirty="0"/>
          </a:p>
        </p:txBody>
      </p:sp>
      <p:pic>
        <p:nvPicPr>
          <p:cNvPr id="19" name="Image 3" descr="/home/claude/icons/ic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2875788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888736" y="228600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57534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934456" y="2487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934456" y="299923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950" dirty="0"/>
          </a:p>
        </p:txBody>
      </p:sp>
      <p:pic>
        <p:nvPicPr>
          <p:cNvPr id="23" name="Image 4" descr="/home/claude/icons/ic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2875788"/>
            <a:ext cx="237744" cy="23774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662672" y="228600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57534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708392" y="2487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708392" y="299923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requêtes SQL</a:t>
            </a:r>
            <a:endParaRPr lang="en-US" sz="950" dirty="0"/>
          </a:p>
        </p:txBody>
      </p:sp>
      <p:pic>
        <p:nvPicPr>
          <p:cNvPr id="27" name="Image 5" descr="/home/claude/icons/ic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584" y="2875788"/>
            <a:ext cx="237744" cy="23774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436608" y="228600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1C191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9482328" y="2487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9482328" y="299923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566928" y="4160520"/>
            <a:ext cx="11027664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822960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Chemin de retour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2960" y="468172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est mappé vers un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(via ModelMapper) puis retourné en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Côté client,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réceptionne la réponse, met à jour son cache et déclenche un re-rendu de l'interface. Les annotations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assurent le contrôle d'accès granulaire sur chaque endpoint.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Backend — Spring Boot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C191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1874520"/>
            <a:ext cx="868680" cy="868680"/>
          </a:xfrm>
          <a:prstGeom prst="ellipse">
            <a:avLst/>
          </a:prstGeom>
          <a:solidFill>
            <a:srgbClr val="6DB33F"/>
          </a:solidFill>
          <a:ln/>
        </p:spPr>
      </p:sp>
      <p:pic>
        <p:nvPicPr>
          <p:cNvPr id="9" name="Image 1" descr="/home/claude/icons/ic_spr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075688"/>
            <a:ext cx="466344" cy="4663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3.5.14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686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(LTS)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36576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Java pour applications autonomes prêtes à la production. Repose sur Jakarta EE 10 et tire parti des records, switch expressions et sealed classes de Java 17.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68680" y="5440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exposée sur le port 8081 (Tomcat embarqué)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26280" y="1554480"/>
            <a:ext cx="6995160" cy="502920"/>
          </a:xfrm>
          <a:prstGeom prst="roundRect">
            <a:avLst>
              <a:gd name="adj" fmla="val 9091"/>
            </a:avLst>
          </a:prstGeom>
          <a:solidFill>
            <a:srgbClr val="C2410C"/>
          </a:solidFill>
          <a:ln/>
        </p:spPr>
      </p:sp>
      <p:sp>
        <p:nvSpPr>
          <p:cNvPr id="15" name="Text 11"/>
          <p:cNvSpPr/>
          <p:nvPr/>
        </p:nvSpPr>
        <p:spPr>
          <a:xfrm>
            <a:off x="470916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54380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26280" y="2057400"/>
            <a:ext cx="6995160" cy="571500"/>
          </a:xfrm>
          <a:prstGeom prst="rect">
            <a:avLst/>
          </a:prstGeom>
          <a:solidFill>
            <a:srgbClr val="F0EEEC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09160" y="20574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spring-boot-starter-web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543800" y="20574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avec Spring MVC + Tomcat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26280" y="2628900"/>
            <a:ext cx="6995160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09160" y="2628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spring-boot-starter-security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543800" y="26289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filtres, CORS, RBAC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26280" y="3200400"/>
            <a:ext cx="6995160" cy="571500"/>
          </a:xfrm>
          <a:prstGeom prst="rect">
            <a:avLst/>
          </a:prstGeom>
          <a:solidFill>
            <a:srgbClr val="F0EEEC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09160" y="32004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spring-boot-starter-data-jpa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32004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via Hibernate / JPA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526280" y="3771900"/>
            <a:ext cx="6995160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09160" y="3771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jjwt (api / impl)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543800" y="37719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&amp; validation des JWT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526280" y="4343400"/>
            <a:ext cx="6995160" cy="571500"/>
          </a:xfrm>
          <a:prstGeom prst="rect">
            <a:avLst/>
          </a:prstGeom>
          <a:solidFill>
            <a:srgbClr val="F0EEEC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09160" y="43434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modelmapper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543800" y="43434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automatique Entité ⇄ DTO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526280" y="4914900"/>
            <a:ext cx="6995160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09160" y="4914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lombok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7543800" y="49149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getters / setters / builders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526280" y="5486400"/>
            <a:ext cx="6995160" cy="571500"/>
          </a:xfrm>
          <a:prstGeom prst="rect">
            <a:avLst/>
          </a:prstGeom>
          <a:solidFill>
            <a:srgbClr val="F0EEEC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09160" y="54864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mysql-connector-j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543800" y="54864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JDBC pour MySQL 8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Frontend — React 19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C191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1874520"/>
            <a:ext cx="868680" cy="86868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9" name="Image 1" descr="/home/claude/icons/ic_reac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048256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19.2 + Vite 8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686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36576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réactive de type SPA. React 19 apporte les Server Components et le hook useOptimistic ; Vite 8 assure un démarrage ultra-rapide et un bundling optimisé.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68680" y="5440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protégé : redirection automatique vers la connexion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26280" y="1554480"/>
            <a:ext cx="6995160" cy="502920"/>
          </a:xfrm>
          <a:prstGeom prst="roundRect">
            <a:avLst>
              <a:gd name="adj" fmla="val 9091"/>
            </a:avLst>
          </a:prstGeom>
          <a:solidFill>
            <a:srgbClr val="C2410C"/>
          </a:solidFill>
          <a:ln/>
        </p:spPr>
      </p:sp>
      <p:sp>
        <p:nvSpPr>
          <p:cNvPr id="15" name="Text 11"/>
          <p:cNvSpPr/>
          <p:nvPr/>
        </p:nvSpPr>
        <p:spPr>
          <a:xfrm>
            <a:off x="470916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54380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26280" y="2057400"/>
            <a:ext cx="6995160" cy="571500"/>
          </a:xfrm>
          <a:prstGeom prst="rect">
            <a:avLst/>
          </a:prstGeom>
          <a:solidFill>
            <a:srgbClr val="F0EEEC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09160" y="20574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Router DOM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543800" y="20574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client &amp; protection des routes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26280" y="2628900"/>
            <a:ext cx="6995160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09160" y="2628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@tanstack/react-query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543800" y="26289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serveur, synchronisation API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26280" y="3200400"/>
            <a:ext cx="6995160" cy="571500"/>
          </a:xfrm>
          <a:prstGeom prst="rect">
            <a:avLst/>
          </a:prstGeom>
          <a:solidFill>
            <a:srgbClr val="F0EEEC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09160" y="32004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32004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 + intercepteurs JWT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526280" y="3771900"/>
            <a:ext cx="6995160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09160" y="3771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TailwindCSS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543800" y="37719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CSS utilitaire (design)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526280" y="4343400"/>
            <a:ext cx="6995160" cy="571500"/>
          </a:xfrm>
          <a:prstGeom prst="rect">
            <a:avLst/>
          </a:prstGeom>
          <a:solidFill>
            <a:srgbClr val="F0EEEC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09160" y="43434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react-hook-form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543800" y="43434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performante des formulaires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526280" y="4914900"/>
            <a:ext cx="6995160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09160" y="4914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react-hot-toast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7543800" y="49149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toast (succès / erreur)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526280" y="5486400"/>
            <a:ext cx="6995160" cy="571500"/>
          </a:xfrm>
          <a:prstGeom prst="rect">
            <a:avLst/>
          </a:prstGeom>
          <a:solidFill>
            <a:srgbClr val="F0EEEC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09160" y="54864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 + lucide-react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543800" y="54864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&amp; icônes vectorielles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— Spring Security &amp; JWT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configuré en mode stateless (sans session HTTP). Chaque requête authentifiée transporte un token JWT.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63624" y="2304288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10" name="Image 1" descr="/home/claude/icons/ic_ke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249631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2369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34747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Connexion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3803904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s'authentifie ; un token JWT signé est généré</a:t>
            </a:r>
            <a:endParaRPr lang="en-US" sz="1050" dirty="0"/>
          </a:p>
        </p:txBody>
      </p:sp>
      <p:pic>
        <p:nvPicPr>
          <p:cNvPr id="14" name="Image 2" descr="/home/claude/icons/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988" y="2633472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57016" y="201168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480560" y="2304288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17" name="Image 3" descr="/home/claude/icons/ic_lo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496312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57016" y="32369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557016" y="34747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3739896" y="3803904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token est envoyé dans l'en-tête Authorization: Bearer</a:t>
            </a:r>
            <a:endParaRPr lang="en-US" sz="1050" dirty="0"/>
          </a:p>
        </p:txBody>
      </p:sp>
      <p:pic>
        <p:nvPicPr>
          <p:cNvPr id="21" name="Image 4" descr="/home/claude/icons/ic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924" y="2633472"/>
            <a:ext cx="201168" cy="20116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73952" y="201168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397496" y="2304288"/>
            <a:ext cx="822960" cy="822960"/>
          </a:xfrm>
          <a:prstGeom prst="ellipse">
            <a:avLst/>
          </a:prstGeom>
          <a:solidFill>
            <a:srgbClr val="1C1917"/>
          </a:solidFill>
          <a:ln/>
        </p:spPr>
      </p:sp>
      <p:pic>
        <p:nvPicPr>
          <p:cNvPr id="24" name="Image 5" descr="/home/claude/icons/ic_shield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496312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73952" y="32369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6473952" y="34747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656832" y="3803904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 valide le token via JwtUtil (HMAC-SHA256)</a:t>
            </a:r>
            <a:endParaRPr lang="en-US" sz="1050" dirty="0"/>
          </a:p>
        </p:txBody>
      </p:sp>
      <p:pic>
        <p:nvPicPr>
          <p:cNvPr id="28" name="Image 6" descr="/home/claude/icons/ic_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6860" y="2633472"/>
            <a:ext cx="201168" cy="20116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9390888" y="201168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10314432" y="2304288"/>
            <a:ext cx="822960" cy="822960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31" name="Image 7" descr="/home/claude/icons/ic_admin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6456" y="2496312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390888" y="323697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9390888" y="34747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Autorisation</a:t>
            </a:r>
            <a:endParaRPr lang="en-US" sz="1500" dirty="0"/>
          </a:p>
        </p:txBody>
      </p:sp>
      <p:sp>
        <p:nvSpPr>
          <p:cNvPr id="34" name="Text 24"/>
          <p:cNvSpPr/>
          <p:nvPr/>
        </p:nvSpPr>
        <p:spPr>
          <a:xfrm>
            <a:off x="9573768" y="3803904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SecurityContext est alimenté ; @PreAuthorize vérifie le rôle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640080" y="4800600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BEEE7"/>
          </a:solidFill>
          <a:ln w="12700">
            <a:solidFill>
              <a:srgbClr val="F5D5C2"/>
            </a:solidFill>
            <a:prstDash val="solid"/>
          </a:ln>
        </p:spPr>
      </p:sp>
      <p:pic>
        <p:nvPicPr>
          <p:cNvPr id="36" name="Image 8" descr="/home/claude/icons/ic_reliab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074920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261872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hachage des mots de passe (coût 10)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4572000" y="4800600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BEEE7"/>
          </a:solidFill>
          <a:ln w="12700">
            <a:solidFill>
              <a:srgbClr val="F5D5C2"/>
            </a:solidFill>
            <a:prstDash val="solid"/>
          </a:ln>
        </p:spPr>
      </p:sp>
      <p:pic>
        <p:nvPicPr>
          <p:cNvPr id="39" name="Image 9" descr="/home/claude/icons/ic_reliab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5074920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193792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contrôle d'accès basé sur les rôles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8503920" y="4800600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BEEE7"/>
          </a:solidFill>
          <a:ln w="12700">
            <a:solidFill>
              <a:srgbClr val="F5D5C2"/>
            </a:solidFill>
            <a:prstDash val="solid"/>
          </a:ln>
        </p:spPr>
      </p:sp>
      <p:pic>
        <p:nvPicPr>
          <p:cNvPr id="42" name="Image 10" descr="/home/claude/icons/ic_reliab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2520" y="5074920"/>
            <a:ext cx="274320" cy="27432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125712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configurable — protection cross-origin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db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 — MySQL 8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lias_db généré et maintenu automatiquement par Hibernate (ddl-auto=update). 11 tables principales.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039112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39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88920" y="19659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: rôles, statuts &amp; profil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965960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039112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039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58200" y="19659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de recherche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532888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260604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2606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affiliation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788920" y="25328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Membre ⇄ Équipe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09360" y="2532888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260604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2606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458200" y="25328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Mandats (Directeur, Chef d'équipe)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3099816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3172968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3172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publication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788920" y="3099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&amp; conférences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09360" y="3099816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3172968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0" y="3172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evenement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458200" y="3099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Conférences, séminaires, workshops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" y="3666744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1520" y="3739896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3739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materiel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788920" y="36667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du parc informatique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309360" y="3666744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0" y="3739896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38" name="Text 35"/>
          <p:cNvSpPr/>
          <p:nvPr/>
        </p:nvSpPr>
        <p:spPr>
          <a:xfrm>
            <a:off x="6400800" y="3739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attribution_materiel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58200" y="36667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matériel ⇄ membre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0080" y="4233672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31520" y="4306824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42" name="Text 39"/>
          <p:cNvSpPr/>
          <p:nvPr/>
        </p:nvSpPr>
        <p:spPr>
          <a:xfrm>
            <a:off x="731520" y="43068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demande_adhesion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2788920" y="42336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externes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309360" y="4233672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0800" y="4306824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46" name="Text 43"/>
          <p:cNvSpPr/>
          <p:nvPr/>
        </p:nvSpPr>
        <p:spPr>
          <a:xfrm>
            <a:off x="6400800" y="43068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458200" y="42336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par membre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40080" y="4800600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31520" y="4873752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1C1917"/>
          </a:solidFill>
          <a:ln/>
        </p:spPr>
      </p:sp>
      <p:sp>
        <p:nvSpPr>
          <p:cNvPr id="50" name="Text 47"/>
          <p:cNvSpPr/>
          <p:nvPr/>
        </p:nvSpPr>
        <p:spPr>
          <a:xfrm>
            <a:off x="731520" y="4873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historique_action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2788920" y="48006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309360" y="4800600"/>
            <a:ext cx="5349240" cy="475488"/>
          </a:xfrm>
          <a:prstGeom prst="roundRect">
            <a:avLst>
              <a:gd name="adj" fmla="val 9615"/>
            </a:avLst>
          </a:prstGeom>
          <a:solidFill>
            <a:srgbClr val="1C1917"/>
          </a:solidFill>
          <a:ln/>
        </p:spPr>
      </p:sp>
      <p:sp>
        <p:nvSpPr>
          <p:cNvPr id="53" name="Text 50"/>
          <p:cNvSpPr/>
          <p:nvPr/>
        </p:nvSpPr>
        <p:spPr>
          <a:xfrm>
            <a:off x="6446520" y="4800600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data.sql</a:t>
            </a:r>
            <a:pPr indent="0" marL="0">
              <a:buNone/>
            </a:pPr>
            <a:r>
              <a:rPr lang="en-US" sz="11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exécuté au démarrage (INSERT IGNORE) pour les données de test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— INTERFACES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 &amp; accès public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5486400" cy="3653024"/>
          </a:xfrm>
          <a:prstGeom prst="roundRect">
            <a:avLst>
              <a:gd name="adj" fmla="val 200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de connexion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48256"/>
            <a:ext cx="5120640" cy="2372864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1" name="Image 1" descr="/home/claude/img/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8256"/>
            <a:ext cx="5120640" cy="23728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5125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bicolore, accès réservé aux membres. Formulaire géré par react-hook-form avec toasts d'erreur.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81328"/>
            <a:ext cx="5486400" cy="3685346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Rejoindre le laboratoire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0" y="2048256"/>
            <a:ext cx="5120640" cy="2405186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7" name="Image 2" descr="/home/claude/img/rejoind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48256"/>
            <a:ext cx="5120640" cy="24051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454488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public de candidature (sans authentification) : identité, email et motivation.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— INTERFACES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bord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11680" y="1554480"/>
            <a:ext cx="8138160" cy="3820732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img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54480"/>
            <a:ext cx="8138160" cy="38207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5631244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BEEE7"/>
          </a:solidFill>
          <a:ln w="12700">
            <a:solidFill>
              <a:srgbClr val="F5D5C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6312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statistiques temps réel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89120" y="5631244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BEEE7"/>
          </a:solidFill>
          <a:ln w="12700">
            <a:solidFill>
              <a:srgbClr val="F5D5C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89120" y="56312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publications / année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5631244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BEEE7"/>
          </a:solidFill>
          <a:ln w="12700">
            <a:solidFill>
              <a:srgbClr val="F5D5C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46720" y="56312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à venir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— INTERFACES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membres &amp; équipes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5486400" cy="3687607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membres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48256"/>
            <a:ext cx="5120640" cy="2407447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1" name="Image 1" descr="/home/claude/img/memb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8256"/>
            <a:ext cx="5120640" cy="24074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547143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paginée, recherche, statuts colorés, modification du rôle et activation des comptes.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81328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Équipes de recherche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0" y="2048256"/>
            <a:ext cx="512064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7" name="Image 2" descr="/home/claude/img/equip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48256"/>
            <a:ext cx="5120640" cy="2286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44256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cartes : code couleur, description, année de création et nombre de membres.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— INTERFACES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&amp; événements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5486400" cy="3707004"/>
          </a:xfrm>
          <a:prstGeom prst="roundRect">
            <a:avLst>
              <a:gd name="adj" fmla="val 197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48256"/>
            <a:ext cx="5120640" cy="2426844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1" name="Image 1" descr="/home/claude/img/public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8256"/>
            <a:ext cx="5120640" cy="24268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5665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conférences et thèses avec type, auteurs et année ; ajout via formulaire validé.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81328"/>
            <a:ext cx="5486400" cy="3694417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Événements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0" y="2048256"/>
            <a:ext cx="5120640" cy="2414257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7" name="Image 2" descr="/home/claude/img/ev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48256"/>
            <a:ext cx="5120640" cy="241425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4553953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Conférences, séminaires et workshops avec badges colorés, dates et lieux.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— INTERFACES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Matériel &amp; demandes d'adhésion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5486400" cy="3701266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Matériel informatique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48256"/>
            <a:ext cx="5120640" cy="2421106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1" name="Image 1" descr="/home/claude/img/materi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8256"/>
            <a:ext cx="5120640" cy="24211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56080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du parc : disponibilité, stock et attribution des équipements aux membres.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81328"/>
            <a:ext cx="5486400" cy="36574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Demandes d'adhésion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0" y="2048256"/>
            <a:ext cx="5120640" cy="2377270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7" name="Image 2" descr="/home/claude/img/adhes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48256"/>
            <a:ext cx="5120640" cy="237727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451696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candidatures externes (accepter / refuser) — réservé Admin / Directeur.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— INTERFACES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historique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5486400" cy="3669633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48256"/>
            <a:ext cx="5120640" cy="2389473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1" name="Image 1" descr="/home/claude/img/notific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8256"/>
            <a:ext cx="5120640" cy="23894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529169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personnalisées : matériel attribué, nouvelles demandes d'adhésion, changements de statut.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81328"/>
            <a:ext cx="5486400" cy="3662961"/>
          </a:xfrm>
          <a:prstGeom prst="roundRect">
            <a:avLst>
              <a:gd name="adj" fmla="val 199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des actions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0" y="2048256"/>
            <a:ext cx="5120640" cy="2382801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7" name="Image 2" descr="/home/claude/img/historiq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48256"/>
            <a:ext cx="5120640" cy="23828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4522497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 complet : action, détails, auteur et horodatage de chaque opération.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claude/icons/ic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— INTERFACES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94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&amp; documents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5486400" cy="3692143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d'activité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48256"/>
            <a:ext cx="5120640" cy="2411983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1" name="Image 1" descr="/home/claude/img/rappo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8256"/>
            <a:ext cx="5120640" cy="24119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551679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annuelles avec sélecteur d'année : membres, publications, événements, adhésions.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81328"/>
            <a:ext cx="5486400" cy="3564121"/>
          </a:xfrm>
          <a:prstGeom prst="roundRect">
            <a:avLst>
              <a:gd name="adj" fmla="val 2052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719072"/>
            <a:ext cx="128016" cy="12801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0" y="2048256"/>
            <a:ext cx="5120640" cy="2283961"/>
          </a:xfrm>
          <a:prstGeom prst="rect">
            <a:avLst/>
          </a:prstGeom>
          <a:solidFill>
            <a:srgbClr val="F8FAFC"/>
          </a:solidFill>
          <a:ln w="9525">
            <a:solidFill>
              <a:srgbClr val="D6D3D1"/>
            </a:solidFill>
            <a:prstDash val="solid"/>
          </a:ln>
        </p:spPr>
      </p:sp>
      <p:pic>
        <p:nvPicPr>
          <p:cNvPr id="17" name="Image 2" descr="/home/claude/img/docu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48256"/>
            <a:ext cx="5120640" cy="22839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4423657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partagés au laboratoire : upload, téléchargement, recherche et événement associé.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9252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</p:spPr>
      </p:sp>
      <p:pic>
        <p:nvPicPr>
          <p:cNvPr id="4" name="Image 0" descr="/home/claude/icons/ic_fla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7680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40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3716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système d'information intégré &amp; sécurisé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24028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292524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du projet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28346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complète des besoins fonctionnels identifiés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membres avec contrôle de rôles granulaire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publications, événements, matériel &amp; adhésions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stateless robuste (REST)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maintenable &amp; extensible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 de la programmation JEE et du pattern MVC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24028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C2410C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3796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0" y="286207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 gestion des thèses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étapes de soutenance des doctorants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37960" y="3685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58000" y="366674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recherche avancé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mots-clés, domaine et année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537960" y="44897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447141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 &amp; pipeline CI/CD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537960" y="52943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58000" y="52760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avancées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des rapports d'activité annuels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Web de Gestion du Laboratoire LIAS</dc:title>
  <dc:subject>PptxGenJS Presentation</dc:subject>
  <dc:creator>MSOUHLI RAHIL</dc:creator>
  <cp:lastModifiedBy>MSOUHLI RAHIL</cp:lastModifiedBy>
  <cp:revision>1</cp:revision>
  <dcterms:created xsi:type="dcterms:W3CDTF">2026-06-21T22:55:06Z</dcterms:created>
  <dcterms:modified xsi:type="dcterms:W3CDTF">2026-06-21T22:55:06Z</dcterms:modified>
</cp:coreProperties>
</file>